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Dime: a 100% free, open-source personal finance app for iOS built with SwiftUI. It is available on the App Store and was featured by Apple in 'Must-Have Finance Apps'.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expense trackers are either paid, cluttered, or ad-supported. Dime's goal is a beautiful, native-feeling tracker that is completely free and open source (GNU GPL v3).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main features. Emphasise fast entry, insights, category budgets, recurring transactions, iCloud sync, biometric authentication, reminders, quick actions and widgets.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screen: numeric keypad with category and date picker. Insights: bar chart plus category breakdown. Budgets: gauge showing overall spend and per-category cards. Settings: appearance, currency, authentication, iCloud, export and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 extends beyond the main app: a full dark theme, seven WidgetKit widgets for home and lock screen, Siri / Shortcuts integration via App Intents and SiriKit intents, and home-screen quick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Language: Swift. UI is 100% SwiftUI. Data is stored with Core Data and synced using NSPersistentCloudKitContainer. Extensions use WidgetKit and Intents. Dependencies are managed with Swift Package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app, widget extension and Siri intent extensions all read and write the same Core Data store placed in a shared App Group container. NSPersistentCloudKitContainer mirrors it to the user's private iCloud database, and persistent history tracking keeps every process in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is the hub: it has a one-to-many relationship with Transaction and TemplateTransaction, and a one-to-one with Budget. MainBudget stores the overall spending limit. Recurring behaviour is modelled with recurringType plus a coefficient (e.g. every 2 weeks).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measured from the repository: about 28,000 lines across 93 Swift files, 4 build targets, 99 commits since the first commit on 30 August 2022, 7 widget types and 3 languages (English, French, Russian).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what was hard: keeping data consistent between the app and its extensions, dealing with entitlements for iCloud/App Groups when building without a paid account, polishing the number pad, and working in an open-source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next steps for the project. Adjust this list to match your own plans or contributions.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for questions. Share the GitHub link: github.com/VedantJagdale1/Dime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SwiftUI · Open Source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0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intuitive budget &amp; expense tracker for iPhone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Jagdale &amp; Harleen Kaur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411480"/>
            <a:ext cx="3840480" cy="4343400"/>
          </a:xfrm>
          <a:prstGeom prst="roundRect">
            <a:avLst>
              <a:gd name="adj" fmla="val 714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pic>
        <p:nvPicPr>
          <p:cNvPr id="7" name="Image 0" descr="/Users/vedantjagdale/Documents/dimeApp/docs/assets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566928"/>
            <a:ext cx="3657600" cy="32425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Dime?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budgeting apps hide core features behind subscriptions and ads. Dime doesn't.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74520" cy="2468880"/>
          </a:xfrm>
          <a:prstGeom prst="roundRect">
            <a:avLst>
              <a:gd name="adj" fmla="val 975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paywall, no ads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1874520" cy="2468880"/>
          </a:xfrm>
          <a:prstGeom prst="roundRect">
            <a:avLst>
              <a:gd name="adj" fmla="val 975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4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or ads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device + your iCloud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874520" cy="2468880"/>
          </a:xfrm>
          <a:prstGeom prst="roundRect">
            <a:avLst>
              <a:gd name="adj" fmla="val 975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French, Russian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554480"/>
            <a:ext cx="1874520" cy="2468880"/>
          </a:xfrm>
          <a:prstGeom prst="roundRect">
            <a:avLst>
              <a:gd name="adj" fmla="val 975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783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E5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GPL-3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read, fork, contribute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Apple's Human Interface Guidelines — simplicity at its core.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132478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70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Blazing-fast input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number pad logs an expense in seconds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503" y="13247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13248" y="1170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13248" y="1463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breakdowns by week, month and year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08483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2220895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20665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07008" y="2359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and overall budgets with progress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2084832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8E5CF7"/>
          </a:solidFill>
          <a:ln w="12700">
            <a:solidFill>
              <a:srgbClr val="8E5CF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503" y="2220895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13248" y="20665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expenses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413248" y="2359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time frames, auto-logged when due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298094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63" y="3117007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07008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sync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207008" y="3255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categories &amp; budgets across devices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663440" y="298094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9503" y="3117007"/>
            <a:ext cx="294803" cy="29480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13248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lock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13248" y="32552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Touch ID protects your data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57200" y="38770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63" y="4013119"/>
            <a:ext cx="294803" cy="294803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207008" y="3858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1207008" y="4151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nudges to keep your logging streak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663440" y="387705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9503" y="4013119"/>
            <a:ext cx="294803" cy="294803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413248" y="3858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&amp; Siri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5413248" y="41513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Home/lock screen widgets and Shortcuts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Tour</a:t>
            </a:r>
            <a:endParaRPr lang="en-US" sz="3000" dirty="0"/>
          </a:p>
        </p:txBody>
      </p:sp>
      <p:pic>
        <p:nvPicPr>
          <p:cNvPr id="3" name="Image 0" descr="/private/tmp/claude-501/-Users-vedantjagdale-Documents-dimeApp/4151dda2-1c80-4f26-9e36-12e8e7e8646f/scratchpad/img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1833036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274320" y="4370832"/>
            <a:ext cx="2198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Input</a:t>
            </a:r>
            <a:endParaRPr lang="en-US" sz="1200" dirty="0"/>
          </a:p>
        </p:txBody>
      </p:sp>
      <p:pic>
        <p:nvPicPr>
          <p:cNvPr id="5" name="Image 1" descr="/private/tmp/claude-501/-Users-vedantjagdale-Documents-dimeApp/4151dda2-1c80-4f26-9e36-12e8e7e8646f/scratchpad/img/s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88" y="1051560"/>
            <a:ext cx="1833036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2406508" y="4370832"/>
            <a:ext cx="2198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pic>
        <p:nvPicPr>
          <p:cNvPr id="7" name="Image 2" descr="/private/tmp/claude-501/-Users-vedantjagdale-Documents-dimeApp/4151dda2-1c80-4f26-9e36-12e8e7e8646f/scratchpad/img/s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576" y="1051560"/>
            <a:ext cx="1833036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4538696" y="4370832"/>
            <a:ext cx="2198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</a:t>
            </a:r>
            <a:endParaRPr lang="en-US" sz="1200" dirty="0"/>
          </a:p>
        </p:txBody>
      </p:sp>
      <p:pic>
        <p:nvPicPr>
          <p:cNvPr id="9" name="Image 3" descr="/private/tmp/claude-501/-Users-vedantjagdale-Documents-dimeApp/4151dda2-1c80-4f26-9e36-12e8e7e8646f/scratchpad/img/s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764" y="1051560"/>
            <a:ext cx="1833036" cy="32461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Text 4"/>
          <p:cNvSpPr txBox="1"/>
          <p:nvPr/>
        </p:nvSpPr>
        <p:spPr>
          <a:xfrm>
            <a:off x="6670884" y="4370832"/>
            <a:ext cx="2198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App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meets users wherever they are on iOS</a:t>
            </a:r>
            <a:endParaRPr lang="en-US" sz="1400" dirty="0"/>
          </a:p>
        </p:txBody>
      </p:sp>
      <p:pic>
        <p:nvPicPr>
          <p:cNvPr id="4" name="Image 0" descr="/private/tmp/claude-501/-Users-vedantjagdale-Documents-dimeApp/4151dda2-1c80-4f26-9e36-12e8e7e8646f/scratchpad/img/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549045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274320" y="4187952"/>
            <a:ext cx="1914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200" dirty="0"/>
          </a:p>
        </p:txBody>
      </p:sp>
      <p:pic>
        <p:nvPicPr>
          <p:cNvPr id="6" name="Image 1" descr="/private/tmp/claude-501/-Users-vedantjagdale-Documents-dimeApp/4151dda2-1c80-4f26-9e36-12e8e7e8646f/scratchpad/img/s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845" y="1371600"/>
            <a:ext cx="1549045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2051965" y="4187952"/>
            <a:ext cx="1914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widgets</a:t>
            </a:r>
            <a:endParaRPr lang="en-US" sz="1200" dirty="0"/>
          </a:p>
        </p:txBody>
      </p:sp>
      <p:pic>
        <p:nvPicPr>
          <p:cNvPr id="8" name="Image 2" descr="/private/tmp/claude-501/-Users-vedantjagdale-Documents-dimeApp/4151dda2-1c80-4f26-9e36-12e8e7e8646f/scratchpad/img/s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490" y="1371600"/>
            <a:ext cx="1549045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3829610" y="4187952"/>
            <a:ext cx="19148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screen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881574" y="1417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275" y="1538021"/>
            <a:ext cx="261518" cy="26151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567374" y="1380744"/>
            <a:ext cx="2119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widget types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6567374" y="1664208"/>
            <a:ext cx="2119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insights, recent transactions, templates, new expense, lock screen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881574" y="24688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8E5CF7"/>
          </a:solidFill>
          <a:ln w="12700">
            <a:solidFill>
              <a:srgbClr val="8E5CF7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275" y="2589581"/>
            <a:ext cx="261518" cy="26151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567374" y="2432304"/>
            <a:ext cx="2119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&amp; Shortcuts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6567374" y="2715768"/>
            <a:ext cx="2119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Intents: add transactions, get insights &amp; budget status by voice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5881574" y="35204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2275" y="3641141"/>
            <a:ext cx="261518" cy="26151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567374" y="3483864"/>
            <a:ext cx="2119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6567374" y="3767328"/>
            <a:ext cx="2119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B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Long-press the icon to capture a new expense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Apple frameworks first, a handful of focused open-source packages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frameworks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UI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63240" y="178308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783080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9631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sync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63240" y="2496312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496312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WidgetKit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lock widgets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20954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Intents / SiriKit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&amp; Shortcuts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63240" y="3209544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320954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LocalAuthentication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Touch ID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22776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9227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UserNotifications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63240" y="3922776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0" y="392277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Haptics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 feedback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packages (SPM)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0" y="17830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0" y="18745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Alamofire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CloudKitSyncMonitor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ConfettiSwiftUI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CrookedText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Introspect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IsScrolling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Popovers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Xcode targets share one Core Data store through an App Group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74520" cy="1188720"/>
          </a:xfrm>
          <a:prstGeom prst="roundRect">
            <a:avLst>
              <a:gd name="adj" fmla="val 1153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" y="14356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15453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938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SwiftUI app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94460" y="2514600"/>
            <a:ext cx="0" cy="320040"/>
          </a:xfrm>
          <a:prstGeom prst="line">
            <a:avLst/>
          </a:prstGeom>
          <a:noFill/>
          <a:ln w="19050">
            <a:solidFill>
              <a:srgbClr val="B0B0B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60320" y="1325880"/>
            <a:ext cx="1874520" cy="1188720"/>
          </a:xfrm>
          <a:prstGeom prst="roundRect">
            <a:avLst>
              <a:gd name="adj" fmla="val 1153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68980" y="14356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708" y="15453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1938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ExpenditureWidget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WidgetKit extension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97580" y="2514600"/>
            <a:ext cx="0" cy="320040"/>
          </a:xfrm>
          <a:prstGeom prst="line">
            <a:avLst/>
          </a:prstGeom>
          <a:noFill/>
          <a:ln w="19050">
            <a:solidFill>
              <a:srgbClr val="B0B0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663440" y="1325880"/>
            <a:ext cx="1874520" cy="1188720"/>
          </a:xfrm>
          <a:prstGeom prst="roundRect">
            <a:avLst>
              <a:gd name="adj" fmla="val 1153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72100" y="14356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8E5CF7"/>
          </a:solidFill>
          <a:ln w="12700">
            <a:solidFill>
              <a:srgbClr val="8E5CF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28" y="15453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54880" y="1938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intent handler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600700" y="2514600"/>
            <a:ext cx="0" cy="320040"/>
          </a:xfrm>
          <a:prstGeom prst="line">
            <a:avLst/>
          </a:prstGeom>
          <a:noFill/>
          <a:ln w="19050">
            <a:solidFill>
              <a:srgbClr val="B0B0B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766560" y="1325880"/>
            <a:ext cx="1874520" cy="1188720"/>
          </a:xfrm>
          <a:prstGeom prst="roundRect">
            <a:avLst>
              <a:gd name="adj" fmla="val 1153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75220" y="143560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48" y="154533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0" y="19385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BudgetIntentUI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response UI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703820" y="2514600"/>
            <a:ext cx="0" cy="320040"/>
          </a:xfrm>
          <a:prstGeom prst="line">
            <a:avLst/>
          </a:prstGeom>
          <a:noFill/>
          <a:ln w="19050">
            <a:solidFill>
              <a:srgbClr val="B0B0B5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457200" y="2880360"/>
            <a:ext cx="8229600" cy="68580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0080" y="2880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DataController  ·  Core Data  </a:t>
            </a:r>
            <a:pPr algn="ctr" indent="0" marL="0">
              <a:buNone/>
            </a:pPr>
            <a:r>
              <a:rPr lang="en-US" sz="1400" dirty="0">
                <a:solidFill>
                  <a:srgbClr val="B5B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SQLite store in App Group  group.com.rafaelsoh.dime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572000" y="3566160"/>
            <a:ext cx="0" cy="365760"/>
          </a:xfrm>
          <a:prstGeom prst="line">
            <a:avLst/>
          </a:prstGeom>
          <a:noFill/>
          <a:ln w="19050">
            <a:solidFill>
              <a:srgbClr val="B0B0B5"/>
            </a:solidFill>
            <a:prstDash val="solid"/>
            <a:headEnd type="triangle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3017520" y="3977640"/>
            <a:ext cx="3108960" cy="594360"/>
          </a:xfrm>
          <a:prstGeom prst="roundRect">
            <a:avLst>
              <a:gd name="adj" fmla="val 23077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3017520" y="3977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· CloudKit private database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entities — every record belongs to a Category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29000" y="1325880"/>
            <a:ext cx="2286000" cy="1152144"/>
          </a:xfrm>
          <a:prstGeom prst="roundRect">
            <a:avLst>
              <a:gd name="adj" fmla="val 7937"/>
            </a:avLst>
          </a:prstGeom>
          <a:solidFill>
            <a:srgbClr val="F3F3F5"/>
          </a:solidFill>
          <a:ln w="12700">
            <a:solidFill>
              <a:srgbClr val="DADA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132588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66160" y="1325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764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emoji, colour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income: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377440" cy="1591056"/>
          </a:xfrm>
          <a:prstGeom prst="roundRect">
            <a:avLst>
              <a:gd name="adj" fmla="val 5747"/>
            </a:avLst>
          </a:prstGeom>
          <a:solidFill>
            <a:srgbClr val="F3F3F5"/>
          </a:solidFill>
          <a:ln w="12700">
            <a:solidFill>
              <a:srgbClr val="DADA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2588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764792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amount, note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date, day,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income: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recurringType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recurringCoefficient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3F3F5"/>
          </a:solidFill>
          <a:ln w="12700">
            <a:solidFill>
              <a:srgbClr val="DADA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2588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764792"/>
            <a:ext cx="2103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(week/month…)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2377440" cy="1152144"/>
          </a:xfrm>
          <a:prstGeom prst="roundRect">
            <a:avLst>
              <a:gd name="adj" fmla="val 7937"/>
            </a:avLst>
          </a:prstGeom>
          <a:solidFill>
            <a:srgbClr val="F3F3F5"/>
          </a:solidFill>
          <a:ln w="12700">
            <a:solidFill>
              <a:srgbClr val="DADA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5468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8E5CF7"/>
          </a:solidFill>
          <a:ln w="12700">
            <a:solidFill>
              <a:srgbClr val="8E5C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154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TemplateTransaction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5935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amount, note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income, 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recurringType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3154680"/>
            <a:ext cx="2377440" cy="1152144"/>
          </a:xfrm>
          <a:prstGeom prst="roundRect">
            <a:avLst>
              <a:gd name="adj" fmla="val 7937"/>
            </a:avLst>
          </a:prstGeom>
          <a:solidFill>
            <a:srgbClr val="F3F3F5"/>
          </a:solidFill>
          <a:ln w="12700">
            <a:solidFill>
              <a:srgbClr val="DADA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154680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154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MainBudget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5935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amount, 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(overall budget)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34640" y="1517904"/>
            <a:ext cx="594360" cy="0"/>
          </a:xfrm>
          <a:prstGeom prst="line">
            <a:avLst/>
          </a:prstGeom>
          <a:noFill/>
          <a:ln w="15875">
            <a:solidFill>
              <a:srgbClr val="9A9AA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715000" y="1517904"/>
            <a:ext cx="594360" cy="0"/>
          </a:xfrm>
          <a:prstGeom prst="line">
            <a:avLst/>
          </a:prstGeom>
          <a:noFill/>
          <a:ln w="15875">
            <a:solidFill>
              <a:srgbClr val="9A9AA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834640" y="3346704"/>
            <a:ext cx="594360" cy="0"/>
          </a:xfrm>
          <a:prstGeom prst="line">
            <a:avLst/>
          </a:prstGeom>
          <a:noFill/>
          <a:ln w="15875">
            <a:solidFill>
              <a:srgbClr val="9A9AA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429000" y="2478024"/>
            <a:ext cx="0" cy="868680"/>
          </a:xfrm>
          <a:prstGeom prst="line">
            <a:avLst/>
          </a:prstGeom>
          <a:noFill/>
          <a:ln w="15875">
            <a:solidFill>
              <a:srgbClr val="9A9AA0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3108960" y="3931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Category → many </a:t>
            </a:r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· Templates</a:t>
            </a:r>
            <a:pPr indent="0" marL="0">
              <a:buNone/>
            </a:pPr>
            <a:r>
              <a:rPr lang="en-US" sz="11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1 Category ↔ 1 </a:t>
            </a:r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by the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4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Swift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4408" y="118872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3533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C6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source files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71616" y="118872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3533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E5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targets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906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B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since Aug 2022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64408" y="292608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93008" y="30906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3493008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lock widgets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71616" y="2926080"/>
            <a:ext cx="2587752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0216" y="30906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6300216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Learnings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9091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4C6EF5"/>
          </a:solidFill>
          <a:ln w="12700">
            <a:solidFill>
              <a:srgbClr val="4C6EF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380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across processes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widgets and Siri write to one store — needed App Groups, persistent history tracking and automatic merging.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9091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17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41" y="15380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&amp; signing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and App Groups need a paid developer account; building locally meant temporarily switching to a plain NSPersistentContainer.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9091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1546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32753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entry edge cases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bugs like deleting after typing a decimal point (#40) — small input details matter in a finance app.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9091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1546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327538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collaboration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forks and pull requests from the community shape the roadmap.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EE4B5A"/>
          </a:solidFill>
          <a:ln w="12700">
            <a:solidFill>
              <a:srgbClr val="EE4B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207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platforms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17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iPad-optimised layouts, macOS and Apple Watch companion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640080" cy="64008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075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insights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86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forecasts and savings goals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944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55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beyond English, French and Russian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13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import / export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23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CSV mapping and multiple currencies per account</a:t>
            </a:r>
            <a:endParaRPr lang="en-US" sz="1200" dirty="0"/>
          </a:p>
        </p:txBody>
      </p:sp>
      <p:pic>
        <p:nvPicPr>
          <p:cNvPr id="19" name="Image 0" descr="/private/tmp/claude-501/-Users-vedantjagdale-Documents-dimeApp/4151dda2-1c80-4f26-9e36-12e8e7e8646f/scratchpad/img/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097280"/>
            <a:ext cx="2013758" cy="35661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E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Jagdale &amp; Harleen Kaur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github.com/VedantJagdale1/Dime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 — Budget &amp; Expense Tracker</dc:title>
  <dc:subject>PptxGenJS Presentation</dc:subject>
  <dc:creator>PptxGenJS</dc:creator>
  <cp:lastModifiedBy>PptxGenJS</cp:lastModifiedBy>
  <cp:revision>1</cp:revision>
  <dcterms:created xsi:type="dcterms:W3CDTF">2026-09-26T22:24:02Z</dcterms:created>
  <dcterms:modified xsi:type="dcterms:W3CDTF">2026-09-26T22:24:02Z</dcterms:modified>
</cp:coreProperties>
</file>